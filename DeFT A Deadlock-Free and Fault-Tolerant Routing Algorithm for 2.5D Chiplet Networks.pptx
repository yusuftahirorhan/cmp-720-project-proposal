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76" r:id="rId5"/>
    <p:sldId id="268" r:id="rId6"/>
    <p:sldId id="277" r:id="rId7"/>
    <p:sldId id="278" r:id="rId8"/>
    <p:sldId id="269" r:id="rId9"/>
    <p:sldId id="274" r:id="rId1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3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8" y="16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5138738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BA8A136B-BE29-20F4-1E9A-2EF62164D9EC}"/>
              </a:ext>
            </a:extLst>
          </p:cNvPr>
          <p:cNvSpPr txBox="1"/>
          <p:nvPr/>
        </p:nvSpPr>
        <p:spPr>
          <a:xfrm>
            <a:off x="0" y="2924175"/>
            <a:ext cx="18288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sz="6000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</a:t>
            </a:r>
            <a:r>
              <a:rPr lang="en-US" sz="6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DeFT</a:t>
            </a:r>
            <a:r>
              <a:rPr lang="en-US" sz="6000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Deadlock-Free and Fault-Tolerant Routing Algorithm for 2.5D </a:t>
            </a:r>
            <a:r>
              <a:rPr lang="en-US" sz="6000" b="0" i="0" dirty="0" err="1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6000" b="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Networks</a:t>
            </a:r>
            <a:endParaRPr lang="en-US" sz="60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E672E1D7-D4C8-0E1F-7F79-34EE053C851F}"/>
              </a:ext>
            </a:extLst>
          </p:cNvPr>
          <p:cNvSpPr txBox="1"/>
          <p:nvPr/>
        </p:nvSpPr>
        <p:spPr>
          <a:xfrm>
            <a:off x="14173200" y="91059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Yusuf Tahir ORHAN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A7562986-8FC9-EC0D-45EE-B5933EA1AD6D}"/>
              </a:ext>
            </a:extLst>
          </p:cNvPr>
          <p:cNvSpPr/>
          <p:nvPr/>
        </p:nvSpPr>
        <p:spPr>
          <a:xfrm>
            <a:off x="0" y="2924175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6B9E9-BFCE-B2F5-7190-E51E3B169737}"/>
              </a:ext>
            </a:extLst>
          </p:cNvPr>
          <p:cNvSpPr txBox="1"/>
          <p:nvPr/>
        </p:nvSpPr>
        <p:spPr>
          <a:xfrm>
            <a:off x="7391400" y="5297392"/>
            <a:ext cx="350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Based on the </a:t>
            </a:r>
            <a:r>
              <a:rPr lang="en-US" dirty="0" err="1"/>
              <a:t>DeFT</a:t>
            </a:r>
            <a:r>
              <a:rPr lang="en-US" dirty="0"/>
              <a:t> algorithm by</a:t>
            </a:r>
            <a:endParaRPr lang="tr-TR" dirty="0"/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Taheri, 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Pasricha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Nikdast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476500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028699" y="1342778"/>
            <a:ext cx="162306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2.5D Integration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C9264-69B8-29C3-8969-E53C1302853A}"/>
              </a:ext>
            </a:extLst>
          </p:cNvPr>
          <p:cNvSpPr txBox="1"/>
          <p:nvPr/>
        </p:nvSpPr>
        <p:spPr>
          <a:xfrm>
            <a:off x="859090" y="3186283"/>
            <a:ext cx="80563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Promise of 2.5D Integration: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scalable and cost-effective modular architecture.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1: Deadlocks: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Inter-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traffic creates cyclic dependencies ("up-down-up" routing).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2: Reliability: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Links (VLs) are highly susceptible to physical failures (e.g., thermal stress, defects)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ACD62B-6827-23D3-A35E-172A0F442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9" y="3896873"/>
            <a:ext cx="8461981" cy="31031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CE34-5D58-C903-B20B-C9251AB4D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6837F93-87E8-EC8C-A8BC-EBF088BBD1CA}"/>
              </a:ext>
            </a:extLst>
          </p:cNvPr>
          <p:cNvSpPr/>
          <p:nvPr/>
        </p:nvSpPr>
        <p:spPr>
          <a:xfrm>
            <a:off x="0" y="1843974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20F2E1-15E2-BEA3-540A-7F03F2596336}"/>
              </a:ext>
            </a:extLst>
          </p:cNvPr>
          <p:cNvSpPr txBox="1"/>
          <p:nvPr/>
        </p:nvSpPr>
        <p:spPr>
          <a:xfrm>
            <a:off x="1028700" y="914400"/>
            <a:ext cx="16230600" cy="89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3"/>
              </a:lnSpc>
            </a:pPr>
            <a:r>
              <a:rPr lang="tr-TR" sz="5402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Problem Definition</a:t>
            </a:r>
            <a:endParaRPr lang="en-US" sz="5402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A5F85818-FF36-7099-EDBA-4DF350313162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EB674CC-62DB-1C73-7943-7B6B2FCDB190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2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D0303F-860E-5593-C6C3-6670515627E9}"/>
              </a:ext>
            </a:extLst>
          </p:cNvPr>
          <p:cNvSpPr txBox="1"/>
          <p:nvPr/>
        </p:nvSpPr>
        <p:spPr>
          <a:xfrm>
            <a:off x="1028700" y="2181279"/>
            <a:ext cx="84201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Model: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CPU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an active interposer. Each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4x4 2D-mesh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4 bidirectional Vertical Links (VLs) per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Model: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Synthetic: Uniform, Localized (40% intra-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Hotspot.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Real-world: PARSEC benchmark traces via GEM5 full-system simulator.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Model: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permanent VL failures (manufacturing defects/thermal stress). Fault rate: 3.125% to 25% (1 to 8 faulty VLs).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 100% Deadlock-freedom.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100% Reachability under fault scenarios.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Strictly limited to 2 Virtual Channels (VCs) per port.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CC26EB-7C59-E8F1-0667-67077D3EC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0" y="3149243"/>
            <a:ext cx="8455885" cy="495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56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BA0CF-D23D-ECC3-F447-84A5E743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D068BB4-407F-5E9C-BBC2-02F546BA9612}"/>
              </a:ext>
            </a:extLst>
          </p:cNvPr>
          <p:cNvSpPr/>
          <p:nvPr/>
        </p:nvSpPr>
        <p:spPr>
          <a:xfrm>
            <a:off x="0" y="1843974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62C7D0F-61D5-C9B2-E0ED-07BFF8152B5F}"/>
              </a:ext>
            </a:extLst>
          </p:cNvPr>
          <p:cNvSpPr txBox="1"/>
          <p:nvPr/>
        </p:nvSpPr>
        <p:spPr>
          <a:xfrm>
            <a:off x="1028700" y="914400"/>
            <a:ext cx="16230600" cy="893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3"/>
              </a:lnSpc>
            </a:pPr>
            <a:r>
              <a:rPr lang="tr-TR" sz="5402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Related Work &amp; Project Positioning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E03EB39-3503-20F5-6B84-1402FAD79AF2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BC14951-6835-B2FB-79CD-560AA7861521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3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27A48-1A8C-F104-0E1D-9EF6CC8BAA3D}"/>
              </a:ext>
            </a:extLst>
          </p:cNvPr>
          <p:cNvSpPr txBox="1"/>
          <p:nvPr/>
        </p:nvSpPr>
        <p:spPr>
          <a:xfrm>
            <a:off x="1028700" y="2495026"/>
            <a:ext cx="81153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Solutions:</a:t>
            </a:r>
            <a:endParaRPr lang="tr-T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MTR (Modular Turn Restriction): Uses turn restrictions; limits VL selection.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 (Remote Control): Requires extra buffers and permission networks; zero fault tolerance.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Positioning: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Status: A Replication study of the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Establishing a cycle-accurate hardware baseline for my Master's Thesis.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Moving towards an Extension using Reinforcement Learning optimizations.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76721-3153-C91A-E61C-046E7F71A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367314"/>
            <a:ext cx="8378637" cy="2622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333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BC38-AB82-1FC2-11B7-A8E05BE2D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F0ABA4BC-5100-D988-4666-3EFF6C2AC427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5916CB-A4F6-813C-29B3-BFC2BC1F85EA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4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017DF23B-AA70-A354-B8CD-DA4ADE5061A4}"/>
              </a:ext>
            </a:extLst>
          </p:cNvPr>
          <p:cNvSpPr txBox="1"/>
          <p:nvPr/>
        </p:nvSpPr>
        <p:spPr>
          <a:xfrm>
            <a:off x="1130734" y="3178478"/>
            <a:ext cx="1602653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Environment: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Noxim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(C++ based) cycle-accurate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simulator.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 Computation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Discrete-Event Simulation (DES): For packet generation and fault injection.</a:t>
            </a:r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Reactive Model: For clock-driven router pipeline mechanics.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4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an active interposer.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Dataflow: "Up-Down-Up" inter-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trajectory.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Pipeline: 5-stage synchronous router pipeline (Routing, VC Allocation, SA, ST, LT).</a:t>
            </a:r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834B3824-7999-2E9F-29C5-45E1B78D9220}"/>
              </a:ext>
            </a:extLst>
          </p:cNvPr>
          <p:cNvSpPr/>
          <p:nvPr/>
        </p:nvSpPr>
        <p:spPr>
          <a:xfrm>
            <a:off x="-38100" y="1714500"/>
            <a:ext cx="183642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78184628-BD12-5988-2D5D-CC2ABFEF289B}"/>
              </a:ext>
            </a:extLst>
          </p:cNvPr>
          <p:cNvSpPr txBox="1"/>
          <p:nvPr/>
        </p:nvSpPr>
        <p:spPr>
          <a:xfrm>
            <a:off x="762000" y="690326"/>
            <a:ext cx="134326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- System Architecture &amp; </a:t>
            </a:r>
            <a:r>
              <a:rPr lang="en-US" sz="5400" dirty="0" err="1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</a:t>
            </a:r>
            <a:endParaRPr lang="en-US" sz="54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9558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38E0-F241-71C9-2F0C-9A127385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64B02902-5836-CCD6-8005-1B400B5B4D4A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024849-CA46-B873-8016-FFC04871FCD3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5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EA1DC508-DC30-7DF1-EBCD-1B425C932974}"/>
              </a:ext>
            </a:extLst>
          </p:cNvPr>
          <p:cNvSpPr/>
          <p:nvPr/>
        </p:nvSpPr>
        <p:spPr>
          <a:xfrm>
            <a:off x="-38100" y="1714500"/>
            <a:ext cx="183642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AF626235-3A65-B2B3-ACA0-AD296E12C67E}"/>
              </a:ext>
            </a:extLst>
          </p:cNvPr>
          <p:cNvSpPr txBox="1"/>
          <p:nvPr/>
        </p:nvSpPr>
        <p:spPr>
          <a:xfrm>
            <a:off x="630450" y="617866"/>
            <a:ext cx="161580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i="0" dirty="0">
                <a:solidFill>
                  <a:schemeClr val="accent2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- Implementation Details</a:t>
            </a:r>
            <a:endParaRPr lang="en-US" sz="5400" i="0" dirty="0">
              <a:solidFill>
                <a:srgbClr val="E3E3E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AB73E-B473-3713-8232-547ADAC3EAD5}"/>
              </a:ext>
            </a:extLst>
          </p:cNvPr>
          <p:cNvSpPr txBox="1"/>
          <p:nvPr/>
        </p:nvSpPr>
        <p:spPr>
          <a:xfrm>
            <a:off x="381000" y="2029407"/>
            <a:ext cx="9206754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 Avoidance Logic: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3 strict </a:t>
            </a:r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Network (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VN</a:t>
            </a:r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rules.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1: VN.1 to VN.0 is forbidden.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2: Up-to-Horizontal forbidden in VN.0.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 3: Horizontal-to-Down forbidden in VN.1.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Injection Manager: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module to disable VL ports before simulation start</a:t>
            </a:r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Routing Mechanism:</a:t>
            </a:r>
            <a:endParaRPr lang="tr-T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Offline-generated Lookup Tables (LUTs) stored in boundary routers.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selection of VLs based on current fault vector and congestion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9D2756-B999-84D4-CC90-A4FE38192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1462" y="4094897"/>
            <a:ext cx="9065538" cy="209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645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138E0-F241-71C9-2F0C-9A127385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64B02902-5836-CCD6-8005-1B400B5B4D4A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7024849-CA46-B873-8016-FFC04871FCD3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6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EA1DC508-DC30-7DF1-EBCD-1B425C932974}"/>
              </a:ext>
            </a:extLst>
          </p:cNvPr>
          <p:cNvSpPr/>
          <p:nvPr/>
        </p:nvSpPr>
        <p:spPr>
          <a:xfrm>
            <a:off x="-38100" y="1714500"/>
            <a:ext cx="183642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521C17-3D16-1BB8-78A0-8446D892F98E}"/>
              </a:ext>
            </a:extLst>
          </p:cNvPr>
          <p:cNvSpPr txBox="1"/>
          <p:nvPr/>
        </p:nvSpPr>
        <p:spPr>
          <a:xfrm>
            <a:off x="666182" y="2324100"/>
            <a:ext cx="893501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Metrics:</a:t>
            </a:r>
            <a:r>
              <a:rPr lang="tr-T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Reachability (%): Ratio of delivered packets vs. injected packets.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Latency (cycles): End-to-end packet traversal time.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 (flits/cycle/IP): Maximum data delivery rate.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 for Comparison: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 Routing (Fault-Free): Upper-bound performance baseline.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XY Routing (Fault-Injected): To demonstrate baseline failure rates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Outcomes:</a:t>
            </a:r>
            <a:endParaRPr lang="tr-T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reachability under severe VL fault conditions (up to 25% fault rate).</a:t>
            </a:r>
            <a:endParaRPr lang="tr-T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reduction in average latency compared to standard routing.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F8DF27-1426-981E-7B2D-97090C0CB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239" y="4000499"/>
            <a:ext cx="8522919" cy="30086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76D153-6CC0-8741-7EED-55B32DB772DE}"/>
              </a:ext>
            </a:extLst>
          </p:cNvPr>
          <p:cNvSpPr txBox="1"/>
          <p:nvPr/>
        </p:nvSpPr>
        <p:spPr>
          <a:xfrm>
            <a:off x="693076" y="634554"/>
            <a:ext cx="5181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rgbClr val="C0504D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Evaluation Plan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886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DB1C0-CBEA-0CAF-C233-906B5296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>
            <a:extLst>
              <a:ext uri="{FF2B5EF4-FFF2-40B4-BE49-F238E27FC236}">
                <a16:creationId xmlns:a16="http://schemas.microsoft.com/office/drawing/2014/main" id="{438FCEC9-7C33-F4B8-1D8D-6C14A1C07977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4A01C6E-9D11-6A40-B1E7-9DD70195379F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7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35EED07C-8610-670E-4741-B0241A1F3C8F}"/>
              </a:ext>
            </a:extLst>
          </p:cNvPr>
          <p:cNvSpPr txBox="1"/>
          <p:nvPr/>
        </p:nvSpPr>
        <p:spPr>
          <a:xfrm>
            <a:off x="685800" y="712999"/>
            <a:ext cx="1363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 Design (ESD) Considerations</a:t>
            </a:r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2859763E-9318-1031-749B-7DF37FA0762E}"/>
              </a:ext>
            </a:extLst>
          </p:cNvPr>
          <p:cNvSpPr/>
          <p:nvPr/>
        </p:nvSpPr>
        <p:spPr>
          <a:xfrm>
            <a:off x="-179176" y="1790700"/>
            <a:ext cx="1836420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5CDF30-19CA-8C6A-0FBF-23399152BC4F}"/>
              </a:ext>
            </a:extLst>
          </p:cNvPr>
          <p:cNvSpPr txBox="1"/>
          <p:nvPr/>
        </p:nvSpPr>
        <p:spPr>
          <a:xfrm>
            <a:off x="1061718" y="2312254"/>
            <a:ext cx="1616456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 &amp; Safety: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Strictly guaranteed deadlock-freedom via 3-rule VN logic. Fault tolerance handles permanent hardware failures.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Constraints: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Channels: Limited to 2 VCs to maintain &lt; 2% area overhead.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Depth: Fixed 4-flit depth to reflect realistic hardware limitations.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Constraints:</a:t>
            </a:r>
            <a:r>
              <a:rPr lang="tr-T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Cycle-accurate 5-stage synchronous pipeline ensures predictable timing bounds.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on memory footprint of Lookup Tables (LUTs) with increasing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chiplet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counts.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FDAC4D-6062-DFC4-F3B8-D0673FC3B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84" y="7182602"/>
            <a:ext cx="9602032" cy="25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7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60576-323C-5BAC-80B7-D7AB2A1AB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93226B6-2A99-C5FC-D039-4459E0F52F83}"/>
              </a:ext>
            </a:extLst>
          </p:cNvPr>
          <p:cNvSpPr/>
          <p:nvPr/>
        </p:nvSpPr>
        <p:spPr>
          <a:xfrm>
            <a:off x="0" y="1843974"/>
            <a:ext cx="18288000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2AED47B-C3AE-AD94-B6DE-1320E838AA62}"/>
              </a:ext>
            </a:extLst>
          </p:cNvPr>
          <p:cNvSpPr/>
          <p:nvPr/>
        </p:nvSpPr>
        <p:spPr>
          <a:xfrm>
            <a:off x="0" y="9486900"/>
            <a:ext cx="16920081" cy="0"/>
          </a:xfrm>
          <a:prstGeom prst="line">
            <a:avLst/>
          </a:prstGeom>
          <a:ln w="9525" cap="flat">
            <a:solidFill>
              <a:srgbClr val="42341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730B4F5-349A-9266-166F-7569B0DDEC89}"/>
              </a:ext>
            </a:extLst>
          </p:cNvPr>
          <p:cNvSpPr txBox="1"/>
          <p:nvPr/>
        </p:nvSpPr>
        <p:spPr>
          <a:xfrm>
            <a:off x="16788531" y="8674328"/>
            <a:ext cx="1396494" cy="1186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0</a:t>
            </a:r>
            <a:r>
              <a:rPr lang="tr-TR" sz="4000" dirty="0">
                <a:solidFill>
                  <a:srgbClr val="42341E"/>
                </a:solidFill>
                <a:latin typeface="Times New Roman" panose="02020603050405020304" pitchFamily="18" charset="0"/>
                <a:ea typeface="Rafale"/>
                <a:cs typeface="Times New Roman" panose="02020603050405020304" pitchFamily="18" charset="0"/>
                <a:sym typeface="Rafale"/>
              </a:rPr>
              <a:t>8</a:t>
            </a:r>
            <a:endParaRPr lang="en-US" sz="4000" dirty="0">
              <a:solidFill>
                <a:srgbClr val="42341E"/>
              </a:solidFill>
              <a:latin typeface="Times New Roman" panose="02020603050405020304" pitchFamily="18" charset="0"/>
              <a:ea typeface="Rafale"/>
              <a:cs typeface="Times New Roman" panose="02020603050405020304" pitchFamily="18" charset="0"/>
              <a:sym typeface="Rafale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5BBBACFE-1313-DE7B-0696-BBA0512BD98D}"/>
              </a:ext>
            </a:extLst>
          </p:cNvPr>
          <p:cNvSpPr txBox="1"/>
          <p:nvPr/>
        </p:nvSpPr>
        <p:spPr>
          <a:xfrm>
            <a:off x="838200" y="800099"/>
            <a:ext cx="1013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213E25-B389-C461-FE60-77A6A994FD62}"/>
              </a:ext>
            </a:extLst>
          </p:cNvPr>
          <p:cNvSpPr txBox="1"/>
          <p:nvPr/>
        </p:nvSpPr>
        <p:spPr>
          <a:xfrm>
            <a:off x="838200" y="2618449"/>
            <a:ext cx="13639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a robust, cycle-accurate 2.5D routing baseline.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deadlock-freedom and fault-tolerance under severe hardware degradation.</a:t>
            </a:r>
            <a:endParaRPr lang="tr-T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 (Master's Thesis):</a:t>
            </a:r>
            <a:endParaRPr lang="tr-T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Utilizing this C++ framework to explore Reinforcement Learning-based routing optimizations.</a:t>
            </a:r>
          </a:p>
        </p:txBody>
      </p:sp>
    </p:spTree>
    <p:extLst>
      <p:ext uri="{BB962C8B-B14F-4D97-AF65-F5344CB8AC3E}">
        <p14:creationId xmlns:p14="http://schemas.microsoft.com/office/powerpoint/2010/main" val="165552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687</Words>
  <Application>Microsoft Office PowerPoint</Application>
  <PresentationFormat>Custom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Temalı Pastel Renkli Portfolyo Sunumu</dc:title>
  <dc:creator>yusuf tahir orhan</dc:creator>
  <cp:lastModifiedBy>yusuf tahir orhan</cp:lastModifiedBy>
  <cp:revision>14</cp:revision>
  <dcterms:created xsi:type="dcterms:W3CDTF">2006-08-16T00:00:00Z</dcterms:created>
  <dcterms:modified xsi:type="dcterms:W3CDTF">2026-04-14T21:36:01Z</dcterms:modified>
  <dc:identifier>DAGaa5hqDwM</dc:identifier>
</cp:coreProperties>
</file>